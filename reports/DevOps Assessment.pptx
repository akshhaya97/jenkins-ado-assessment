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308" r:id="rId5"/>
    <p:sldId id="291" r:id="rId6"/>
    <p:sldId id="305" r:id="rId7"/>
    <p:sldId id="289" r:id="rId8"/>
    <p:sldId id="260" r:id="rId9"/>
    <p:sldId id="293" r:id="rId10"/>
    <p:sldId id="292" r:id="rId11"/>
    <p:sldId id="294" r:id="rId12"/>
    <p:sldId id="295" r:id="rId13"/>
    <p:sldId id="296" r:id="rId14"/>
    <p:sldId id="297" r:id="rId15"/>
    <p:sldId id="299" r:id="rId16"/>
    <p:sldId id="298" r:id="rId17"/>
    <p:sldId id="300" r:id="rId18"/>
    <p:sldId id="301" r:id="rId19"/>
    <p:sldId id="302" r:id="rId20"/>
    <p:sldId id="303" r:id="rId21"/>
    <p:sldId id="304" r:id="rId22"/>
    <p:sldId id="306" r:id="rId23"/>
    <p:sldId id="30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A5B18-FB5C-4A80-899E-052E643B115A}" v="250" dt="2026-05-24T06:17:54.880"/>
    <p1510:client id="{35A0EAEE-4EC4-43FA-AE61-6735E81E13B9}" v="695" dt="2026-05-24T08:33:04.657"/>
    <p1510:client id="{9DBB00CB-3756-46C3-B505-927502566083}" v="395" dt="2026-05-24T07:47:24.149"/>
    <p1510:client id="{A2E612A9-5593-4AD0-B12F-0D65048721C3}" v="302" dt="2026-05-23T19:00:22.211"/>
    <p1510:client id="{A3110753-9843-4057-A6F1-F9E04A24E7DC}" v="748" dt="2026-05-24T05:12:57.060"/>
    <p1510:client id="{D3A02974-255A-44B1-B95A-3B543EE6F5AF}" v="476" dt="2026-05-24T02:26:26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shhaya97/jenkins-ado-assessme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kshhaya97/jenkins-ado-assessment/blob/main/docs/architecture.m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shhaya97/jenkins-ado-assessment/blob/main/tools/pipeline_inventory_analyzer.p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shhaya97/jenkins-ado-assessment/blob/main/reports/migration_mapping_matrix.csv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Enterprise DevOps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42189" cy="13824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1200" i="1">
                <a:solidFill>
                  <a:srgbClr val="FFFFFF"/>
                </a:solidFill>
                <a:ea typeface="+mn-lt"/>
                <a:cs typeface="+mn-lt"/>
              </a:rPr>
              <a:t>From legacy Jenkins pipelines and traditional application deployment to Azure DevOps, containerized delivery, and Azure App Service</a:t>
            </a:r>
            <a:endParaRPr lang="en-US" sz="12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1200" i="1">
                <a:solidFill>
                  <a:srgbClr val="FFFFFF"/>
                </a:solidFill>
                <a:ea typeface="+mn-lt"/>
                <a:cs typeface="+mn-lt"/>
              </a:rPr>
              <a:t>Repository: </a:t>
            </a:r>
            <a:r>
              <a:rPr lang="en-US" sz="1200" dirty="0">
                <a:solidFill>
                  <a:srgbClr val="FFFFFF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en-US" sz="1200" dirty="0">
                <a:solidFill>
                  <a:srgbClr val="FFFFFF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</a:t>
            </a:r>
            <a:endParaRPr lang="en-US" sz="1200">
              <a:solidFill>
                <a:srgbClr val="FFFFFF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endParaRPr lang="en-US" sz="1200" dirty="0">
              <a:solidFill>
                <a:srgbClr val="FFFFFF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1200" i="1" dirty="0">
                <a:solidFill>
                  <a:srgbClr val="FFFFFF"/>
                </a:solidFill>
                <a:ea typeface="+mn-lt"/>
                <a:cs typeface="+mn-lt"/>
              </a:rPr>
              <a:t>Presenter: </a:t>
            </a:r>
            <a:r>
              <a:rPr lang="en-US" sz="1200" i="1" err="1">
                <a:solidFill>
                  <a:srgbClr val="FFFFFF"/>
                </a:solidFill>
                <a:ea typeface="+mn-lt"/>
                <a:cs typeface="+mn-lt"/>
              </a:rPr>
              <a:t>Akshhaya</a:t>
            </a:r>
            <a:r>
              <a:rPr lang="en-US" sz="1200" i="1" dirty="0">
                <a:solidFill>
                  <a:srgbClr val="FFFFFF"/>
                </a:solidFill>
                <a:ea typeface="+mn-lt"/>
                <a:cs typeface="+mn-lt"/>
              </a:rPr>
              <a:t> Lakshmi </a:t>
            </a:r>
            <a:r>
              <a:rPr lang="en-US" sz="1200" i="1">
                <a:solidFill>
                  <a:srgbClr val="FFFFFF"/>
                </a:solidFill>
                <a:ea typeface="+mn-lt"/>
                <a:cs typeface="+mn-lt"/>
              </a:rPr>
              <a:t>Sankaranarayanan</a:t>
            </a:r>
            <a:endParaRPr lang="en-US" sz="1200" i="1" dirty="0">
              <a:solidFill>
                <a:srgbClr val="FFFFFF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Aft>
                <a:spcPts val="800"/>
              </a:spcAft>
            </a:pPr>
            <a:endParaRPr lang="en-US" sz="1200" dirty="0">
              <a:solidFill>
                <a:srgbClr val="FFFFFF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Bookman Old Style"/>
              </a:rPr>
              <a:t>Agenda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1600" b="1" u="sng">
                <a:latin typeface="Bookman Old Style"/>
                <a:ea typeface="+mn-lt"/>
                <a:cs typeface="+mn-lt"/>
              </a:rPr>
              <a:t>Application Modernization</a:t>
            </a:r>
          </a:p>
          <a:p>
            <a:pPr>
              <a:lnSpc>
                <a:spcPct val="90000"/>
              </a:lnSpc>
              <a:buNone/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Application baseline and deployment assumptions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Containerization using a multi-stage Docker build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Local ingress and egress simulation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Azure infrastructure provisioning with Terraform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Deployment to Azure App Service for Containers</a:t>
            </a:r>
          </a:p>
          <a:p>
            <a:pPr>
              <a:lnSpc>
                <a:spcPct val="90000"/>
              </a:lnSpc>
            </a:pPr>
            <a:endParaRPr lang="en-US" sz="180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800" b="1" u="sng" dirty="0">
              <a:latin typeface="Bookman Old Style"/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800" b="1" u="sng">
                <a:latin typeface="Bookman Old Style"/>
                <a:ea typeface="+mn-lt"/>
                <a:cs typeface="+mn-lt"/>
              </a:rPr>
              <a:t>Pipeline Modernization</a:t>
            </a:r>
          </a:p>
          <a:p>
            <a:pPr indent="0">
              <a:lnSpc>
                <a:spcPct val="90000"/>
              </a:lnSpc>
              <a:buNone/>
            </a:pP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Legacy pipeline discovery and migration assessment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Self-hosted Azure DevOps agent setup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Azure DevOps YAML conversion with reusable templates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Secure build, deploy, and validation workflow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Governance, monitoring, and production readiness</a:t>
            </a:r>
          </a:p>
          <a:p>
            <a:pPr marL="0" indent="0">
              <a:lnSpc>
                <a:spcPct val="90000"/>
              </a:lnSpc>
              <a:spcAft>
                <a:spcPts val="800"/>
              </a:spcAft>
              <a:buNone/>
            </a:pPr>
            <a:br>
              <a:rPr lang="en-US" sz="1800"/>
            </a:b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390525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Baseline and Deployment Assumption</a:t>
            </a:r>
          </a:p>
        </p:txBody>
      </p:sp>
      <p:sp>
        <p:nvSpPr>
          <p:cNvPr id="58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56DCF-8311-5662-2B48-958E6311F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2"/>
          <a:stretch>
            <a:fillRect/>
          </a:stretch>
        </p:blipFill>
        <p:spPr>
          <a:xfrm>
            <a:off x="1475268" y="3067050"/>
            <a:ext cx="9238416" cy="3019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78FA-F082-36CD-B716-88D2656C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93" y="1563391"/>
            <a:ext cx="3521821" cy="1616203"/>
          </a:xfrm>
        </p:spPr>
        <p:txBody>
          <a:bodyPr anchor="b">
            <a:normAutofit fontScale="90000"/>
          </a:bodyPr>
          <a:lstStyle/>
          <a:p>
            <a:r>
              <a:rPr lang="en-US" sz="4000" b="1" dirty="0">
                <a:solidFill>
                  <a:schemeClr val="accent2"/>
                </a:solidFill>
                <a:latin typeface="Bookman Old Style"/>
                <a:ea typeface="Calibri"/>
                <a:cs typeface="Calibri"/>
              </a:rPr>
              <a:t>Application </a:t>
            </a:r>
            <a:r>
              <a:rPr lang="en-US" sz="4000" b="1">
                <a:solidFill>
                  <a:schemeClr val="accent2"/>
                </a:solidFill>
                <a:latin typeface="Bookman Old Style"/>
                <a:ea typeface="Calibri"/>
                <a:cs typeface="Calibri"/>
              </a:rPr>
              <a:t>Inventory</a:t>
            </a:r>
            <a:br>
              <a:rPr lang="en-US" sz="3200" dirty="0">
                <a:ea typeface="Calibri"/>
                <a:cs typeface="Calibri"/>
              </a:rPr>
            </a:b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FB9F-60D2-0125-52AB-2965CE53E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 b="1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700">
                <a:ea typeface="Calibri"/>
                <a:cs typeface="Calibri"/>
              </a:rPr>
              <a:t>Github URL:</a:t>
            </a:r>
            <a:r>
              <a:rPr lang="en-US" sz="1700">
                <a:ea typeface="+mn-lt"/>
                <a:cs typeface="+mn-lt"/>
              </a:rPr>
              <a:t> </a:t>
            </a:r>
            <a:r>
              <a:rPr lang="en-US" sz="1700">
                <a:ea typeface="+mn-lt"/>
                <a:cs typeface="+mn-lt"/>
                <a:hlinkClick r:id="rId2"/>
              </a:rPr>
              <a:t>Application Inventory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F88077-E165-860C-A31B-B8B0BA9125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3340"/>
          <a:stretch>
            <a:fillRect/>
          </a:stretch>
        </p:blipFill>
        <p:spPr>
          <a:xfrm>
            <a:off x="4987672" y="1256658"/>
            <a:ext cx="6389346" cy="435399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105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19DB7-E226-0576-6251-8BE9F740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Bookman Old Style"/>
                <a:ea typeface="Calibri"/>
                <a:cs typeface="Calibri"/>
              </a:rPr>
              <a:t>Legacy Pipeline Discovery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FC75-9B36-D854-BD05-A5D07519B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sz="1200">
                <a:ea typeface="Calibri"/>
                <a:cs typeface="Calibri"/>
              </a:rPr>
              <a:t>Three Pipelines discovered (Jenkins, Bamboo and GitLab)</a:t>
            </a:r>
            <a:endParaRPr lang="en-US" sz="12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</a:pPr>
            <a:r>
              <a:rPr lang="en-US" sz="1200">
                <a:ea typeface="Calibri"/>
                <a:cs typeface="Calibri"/>
              </a:rPr>
              <a:t>URL: </a:t>
            </a:r>
            <a:r>
              <a:rPr lang="en-US" sz="1200" dirty="0"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Pipeline Inventory Analyzer</a:t>
            </a:r>
            <a:endParaRPr lang="en-US" sz="120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</a:pPr>
            <a:r>
              <a:rPr lang="en-US" sz="1200">
                <a:ea typeface="Calibri"/>
                <a:cs typeface="Calibri"/>
              </a:rPr>
              <a:t>Scans legacy CI directory → classifies runner model, secrets handling, artifact store, and deployment method → outputs risk-scored reports</a:t>
            </a:r>
            <a:br>
              <a:rPr lang="en-US" sz="1600" dirty="0"/>
            </a:b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600">
              <a:highlight>
                <a:srgbClr val="181818"/>
              </a:highlight>
              <a:ea typeface="Calibri"/>
              <a:cs typeface="Calibri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60BB3-5346-4824-5554-F4CB1557E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513530"/>
              </p:ext>
            </p:extLst>
          </p:nvPr>
        </p:nvGraphicFramePr>
        <p:xfrm>
          <a:off x="5418000" y="2850000"/>
          <a:ext cx="5667127" cy="2617303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028224">
                  <a:extLst>
                    <a:ext uri="{9D8B030D-6E8A-4147-A177-3AD203B41FA5}">
                      <a16:colId xmlns:a16="http://schemas.microsoft.com/office/drawing/2014/main" val="3869255366"/>
                    </a:ext>
                  </a:extLst>
                </a:gridCol>
                <a:gridCol w="972223">
                  <a:extLst>
                    <a:ext uri="{9D8B030D-6E8A-4147-A177-3AD203B41FA5}">
                      <a16:colId xmlns:a16="http://schemas.microsoft.com/office/drawing/2014/main" val="774085517"/>
                    </a:ext>
                  </a:extLst>
                </a:gridCol>
                <a:gridCol w="1502231">
                  <a:extLst>
                    <a:ext uri="{9D8B030D-6E8A-4147-A177-3AD203B41FA5}">
                      <a16:colId xmlns:a16="http://schemas.microsoft.com/office/drawing/2014/main" val="478316044"/>
                    </a:ext>
                  </a:extLst>
                </a:gridCol>
                <a:gridCol w="1400230">
                  <a:extLst>
                    <a:ext uri="{9D8B030D-6E8A-4147-A177-3AD203B41FA5}">
                      <a16:colId xmlns:a16="http://schemas.microsoft.com/office/drawing/2014/main" val="1612613640"/>
                    </a:ext>
                  </a:extLst>
                </a:gridCol>
                <a:gridCol w="764219">
                  <a:extLst>
                    <a:ext uri="{9D8B030D-6E8A-4147-A177-3AD203B41FA5}">
                      <a16:colId xmlns:a16="http://schemas.microsoft.com/office/drawing/2014/main" val="2359424885"/>
                    </a:ext>
                  </a:extLst>
                </a:gridCol>
              </a:tblGrid>
              <a:tr h="540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rgbClr val="000000"/>
                          </a:solidFill>
                          <a:effectLst/>
                        </a:rPr>
                        <a:t>Pipeline</a:t>
                      </a:r>
                    </a:p>
                  </a:txBody>
                  <a:tcPr marL="60299" marR="70394" marT="17228" marB="129212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rgbClr val="000000"/>
                          </a:solidFill>
                          <a:effectLst/>
                        </a:rPr>
                        <a:t>Runner</a:t>
                      </a:r>
                    </a:p>
                  </a:txBody>
                  <a:tcPr marL="60299" marR="70394" marT="17228" marB="129212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rgbClr val="000000"/>
                          </a:solidFill>
                          <a:effectLst/>
                        </a:rPr>
                        <a:t>Secrets</a:t>
                      </a:r>
                    </a:p>
                  </a:txBody>
                  <a:tcPr marL="60299" marR="70394" marT="17228" marB="129212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rgbClr val="000000"/>
                          </a:solidFill>
                          <a:effectLst/>
                        </a:rPr>
                        <a:t>Deployment</a:t>
                      </a:r>
                    </a:p>
                  </a:txBody>
                  <a:tcPr marL="60299" marR="70394" marT="17228" marB="129212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rgbClr val="000000"/>
                          </a:solidFill>
                          <a:effectLst/>
                        </a:rPr>
                        <a:t>Risk</a:t>
                      </a:r>
                    </a:p>
                  </a:txBody>
                  <a:tcPr marL="60299" marR="70394" marT="17228" marB="129212" anchor="b"/>
                </a:tc>
                <a:extLst>
                  <a:ext uri="{0D108BD9-81ED-4DB2-BD59-A6C34878D82A}">
                    <a16:rowId xmlns:a16="http://schemas.microsoft.com/office/drawing/2014/main" val="1412730137"/>
                  </a:ext>
                </a:extLst>
              </a:tr>
              <a:tr h="913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Jenkins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agent any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withCredentials</a:t>
                      </a:r>
                      <a:r>
                        <a:rPr lang="en-US" sz="1100" cap="none" spc="0" dirty="0">
                          <a:solidFill>
                            <a:srgbClr val="000000"/>
                          </a:solidFill>
                          <a:effectLst/>
                        </a:rPr>
                        <a:t> + plain-text password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VM SSH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🔴 Critical</a:t>
                      </a:r>
                    </a:p>
                  </a:txBody>
                  <a:tcPr marL="60299" marR="70394" marT="17228" marB="129212" anchor="ctr"/>
                </a:tc>
                <a:extLst>
                  <a:ext uri="{0D108BD9-81ED-4DB2-BD59-A6C34878D82A}">
                    <a16:rowId xmlns:a16="http://schemas.microsoft.com/office/drawing/2014/main" val="2684605476"/>
                  </a:ext>
                </a:extLst>
              </a:tr>
              <a:tr h="470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Bamboo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Local agent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Plan variables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VM SSH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🟠 High</a:t>
                      </a:r>
                    </a:p>
                  </a:txBody>
                  <a:tcPr marL="60299" marR="70394" marT="17228" marB="129212" anchor="ctr"/>
                </a:tc>
                <a:extLst>
                  <a:ext uri="{0D108BD9-81ED-4DB2-BD59-A6C34878D82A}">
                    <a16:rowId xmlns:a16="http://schemas.microsoft.com/office/drawing/2014/main" val="112840014"/>
                  </a:ext>
                </a:extLst>
              </a:tr>
              <a:tr h="69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GitLab CI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Docker runner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Pipeline variables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VM SSH</a:t>
                      </a:r>
                    </a:p>
                  </a:txBody>
                  <a:tcPr marL="60299" marR="70394" marT="17228" marB="1292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rgbClr val="000000"/>
                          </a:solidFill>
                          <a:effectLst/>
                        </a:rPr>
                        <a:t>🟠 High</a:t>
                      </a:r>
                    </a:p>
                  </a:txBody>
                  <a:tcPr marL="60299" marR="70394" marT="17228" marB="129212" anchor="ctr"/>
                </a:tc>
                <a:extLst>
                  <a:ext uri="{0D108BD9-81ED-4DB2-BD59-A6C34878D82A}">
                    <a16:rowId xmlns:a16="http://schemas.microsoft.com/office/drawing/2014/main" val="362761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8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2" name="Arc 121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08633-4BA8-8F71-603A-87F2ADEF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>
                <a:latin typeface="Bookman Old Style"/>
                <a:ea typeface="Calibri"/>
                <a:cs typeface="Calibri"/>
              </a:rPr>
              <a:t>Migration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9A343-EAEB-0454-6FA8-44BC85601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4581940" cy="418589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r>
              <a:rPr lang="en-US" sz="1200" dirty="0">
                <a:ea typeface="+mn-lt"/>
                <a:cs typeface="+mn-lt"/>
              </a:rPr>
              <a:t>Migration Mapping translates every legacy CI/CD concept — pipeline definitions, secrets handling, artifact tagging, and deployment methods — into their direct Azure DevOps equivalents. It ensures no capability is lost during migration while closing security and governance gaps identified in the risk assessment.</a:t>
            </a:r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ea typeface="Calibri"/>
              <a:cs typeface="Calibri"/>
            </a:endParaRPr>
          </a:p>
          <a:p>
            <a:r>
              <a:rPr lang="en-US" sz="1200" dirty="0">
                <a:ea typeface="Calibri"/>
                <a:cs typeface="Calibri"/>
              </a:rPr>
              <a:t>URL: </a:t>
            </a:r>
            <a:r>
              <a:rPr lang="en-US" sz="1200" dirty="0" err="1">
                <a:ea typeface="Calibri"/>
                <a:cs typeface="Calibri"/>
                <a:hlinkClick r:id="rId2"/>
              </a:rPr>
              <a:t>Migration_mapping</a:t>
            </a:r>
            <a:endParaRPr lang="en-US" sz="1200" err="1">
              <a:ea typeface="Calibri"/>
              <a:cs typeface="Calibri"/>
              <a:hlinkClick r:id="rId2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6E6650-B654-FC6A-2754-E82D0C332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49603"/>
              </p:ext>
            </p:extLst>
          </p:nvPr>
        </p:nvGraphicFramePr>
        <p:xfrm>
          <a:off x="5572539" y="2054086"/>
          <a:ext cx="6354420" cy="372371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670312">
                  <a:extLst>
                    <a:ext uri="{9D8B030D-6E8A-4147-A177-3AD203B41FA5}">
                      <a16:colId xmlns:a16="http://schemas.microsoft.com/office/drawing/2014/main" val="3271823256"/>
                    </a:ext>
                  </a:extLst>
                </a:gridCol>
                <a:gridCol w="2219739">
                  <a:extLst>
                    <a:ext uri="{9D8B030D-6E8A-4147-A177-3AD203B41FA5}">
                      <a16:colId xmlns:a16="http://schemas.microsoft.com/office/drawing/2014/main" val="1236692912"/>
                    </a:ext>
                  </a:extLst>
                </a:gridCol>
                <a:gridCol w="1464369">
                  <a:extLst>
                    <a:ext uri="{9D8B030D-6E8A-4147-A177-3AD203B41FA5}">
                      <a16:colId xmlns:a16="http://schemas.microsoft.com/office/drawing/2014/main" val="2299518569"/>
                    </a:ext>
                  </a:extLst>
                </a:gridCol>
              </a:tblGrid>
              <a:tr h="5152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cap="none" spc="0">
                          <a:solidFill>
                            <a:srgbClr val="FFFFFF"/>
                          </a:solidFill>
                          <a:effectLst/>
                        </a:rPr>
                        <a:t>Legacy (Jenkins / Bamboo / GitLab)</a:t>
                      </a:r>
                      <a:endParaRPr lang="en-US" sz="1600">
                        <a:solidFill>
                          <a:srgbClr val="FFFFFF"/>
                        </a:solidFill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cap="none" spc="0">
                          <a:solidFill>
                            <a:srgbClr val="FFFFFF"/>
                          </a:solidFill>
                          <a:effectLst/>
                        </a:rPr>
                        <a:t>Azure DevOps Equivalent</a:t>
                      </a:r>
                      <a:endParaRPr lang="en-US" sz="1600">
                        <a:solidFill>
                          <a:srgbClr val="FFFFFF"/>
                        </a:solidFill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cap="none" spc="0">
                          <a:solidFill>
                            <a:srgbClr val="FFFFFF"/>
                          </a:solidFill>
                          <a:effectLst/>
                        </a:rPr>
                        <a:t>Priority</a:t>
                      </a:r>
                      <a:endParaRPr lang="en-US" sz="1600">
                        <a:solidFill>
                          <a:srgbClr val="FFFFFF"/>
                        </a:solidFill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085394"/>
                  </a:ext>
                </a:extLst>
              </a:tr>
              <a:tr h="39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Jenkinsfile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/ bamboo-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specs.yml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/ .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gitlab-ci.yml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azure-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pipelines.yml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Structural migration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923651"/>
                  </a:ext>
                </a:extLst>
              </a:tr>
              <a:tr h="515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Jenkins Shared Library @Library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Reusable templates in templates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Refactor — no Groovy DSL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545497"/>
                  </a:ext>
                </a:extLst>
              </a:tr>
              <a:tr h="748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withCredentials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plain-text secrets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Key Vault-backed variable group 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petclinic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-shared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🔴 Highest — eliminate plain-text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352777"/>
                  </a:ext>
                </a:extLst>
              </a:tr>
              <a:tr h="58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:$BUILD_NUMBER / :${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bamboo.buildNumber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}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:$(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Build.BuildId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) + :git-$(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shortSha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Immutable promotion chain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01989"/>
                  </a:ext>
                </a:extLst>
              </a:tr>
              <a:tr h="968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echo $PASS 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https://github.com/Akshhaya97/jenkins-ado-assessment/blob/main/reports/migration_mapping_matrix.csv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docker login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Docker@2 with ACR service connection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No runtime credential injection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92" marR="4292" marT="4292" marB="214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35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90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68523-797A-6B59-DF25-91268525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Local Simulation - Docker</a:t>
            </a:r>
            <a:b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1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1A618B-E4C0-5F64-A308-3C02E0599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316" y="3067050"/>
            <a:ext cx="7596320" cy="30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7412B8E-484B-4452-8644-AD263F593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ABD061-A086-7812-03BF-15DD2BF3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chemeClr val="bg1"/>
                </a:solidFill>
                <a:latin typeface="Bookman Old Style"/>
                <a:ea typeface="Calibri"/>
                <a:cs typeface="Calibri"/>
              </a:rPr>
              <a:t>Local Simulation-containerization &amp; evidences</a:t>
            </a:r>
            <a:endParaRPr lang="en-US" sz="2500" b="1">
              <a:solidFill>
                <a:schemeClr val="bg1"/>
              </a:solidFill>
              <a:latin typeface="Bookman Old Sty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Non-root execution — runs as </a:t>
            </a:r>
            <a:r>
              <a:rPr lang="en-US" sz="1200" dirty="0" err="1">
                <a:ea typeface="+mn-lt"/>
                <a:cs typeface="+mn-lt"/>
              </a:rPr>
              <a:t>springuser</a:t>
            </a:r>
            <a:r>
              <a:rPr lang="en-US" sz="1200" dirty="0">
                <a:ea typeface="+mn-lt"/>
                <a:cs typeface="+mn-lt"/>
              </a:rPr>
              <a:t> UID 10001, no root escape from container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Minimal base image — eclipse-temurin:17-jre (JRE only, not JDK), reduces attack surface</a:t>
            </a: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No secrets in image — all credentials injected at runtime via env vars, nothing baked into layers</a:t>
            </a: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Layer caching — dependencies cached before source copy for faster CI builds</a:t>
            </a: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No extra packages — apt-get not called in runtime stage, fewer CVEs and smaller image</a:t>
            </a: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Same binary end-to-end — docker save → artifact → docker load prevents silent rebuilds between scan and push</a:t>
            </a:r>
            <a:br>
              <a:rPr lang="en-US" sz="1200" dirty="0">
                <a:ea typeface="Calibri"/>
                <a:cs typeface="Calibri"/>
              </a:rPr>
            </a:br>
            <a:br>
              <a:rPr lang="en-US" sz="1200" dirty="0">
                <a:ea typeface="Calibri"/>
                <a:cs typeface="Calibri"/>
              </a:rPr>
            </a:b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br>
              <a:rPr lang="en-US" sz="500" dirty="0">
                <a:ea typeface="Calibri"/>
                <a:cs typeface="Calibri"/>
              </a:rPr>
            </a:br>
            <a:endParaRPr lang="en-US" sz="1200" dirty="0">
              <a:ea typeface="+mn-lt"/>
              <a:cs typeface="+mn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FD95D09-2666-454C-AE57-F5C7D866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F43E67-09D0-572D-B2E3-7A1B2609B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707" y="1569941"/>
            <a:ext cx="4716082" cy="1248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E3110-55F7-47A3-730B-EDC5550C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116" y="3309940"/>
            <a:ext cx="4722082" cy="1058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C54B7B-632D-818B-2F8C-03DCC3DB6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06" y="4834610"/>
            <a:ext cx="8302492" cy="1382590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6" name="Rectangle 17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8" name="Arc 17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E3846-1EDA-32D2-B6F6-1069A296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101" y="777980"/>
            <a:ext cx="5098838" cy="929563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Bookman Old Style"/>
                <a:ea typeface="+mj-lt"/>
                <a:cs typeface="+mj-lt"/>
              </a:rPr>
              <a:t>Azure </a:t>
            </a:r>
            <a:r>
              <a:rPr lang="en-US" sz="4000" b="1" dirty="0" err="1">
                <a:solidFill>
                  <a:schemeClr val="bg1"/>
                </a:solidFill>
                <a:latin typeface="Bookman Old Style"/>
                <a:ea typeface="+mj-lt"/>
                <a:cs typeface="+mj-lt"/>
              </a:rPr>
              <a:t>IaC</a:t>
            </a:r>
            <a:r>
              <a:rPr lang="en-US" sz="4000" b="1" dirty="0">
                <a:solidFill>
                  <a:schemeClr val="bg1"/>
                </a:solidFill>
                <a:latin typeface="Bookman Old Style"/>
                <a:ea typeface="+mj-lt"/>
                <a:cs typeface="+mj-lt"/>
              </a:rPr>
              <a:t> - Terraform </a:t>
            </a:r>
            <a:endParaRPr lang="en-US" sz="4000" b="1" dirty="0">
              <a:solidFill>
                <a:schemeClr val="bg1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1" name="Graphic 90" descr="Programmer">
            <a:extLst>
              <a:ext uri="{FF2B5EF4-FFF2-40B4-BE49-F238E27FC236}">
                <a16:creationId xmlns:a16="http://schemas.microsoft.com/office/drawing/2014/main" id="{8B5F0A1A-4457-4AE4-502D-95417430F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E11A9-BEB9-AD8D-CD68-75FD1F87D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>
                <a:ea typeface="Calibri"/>
                <a:cs typeface="Calibri"/>
              </a:rPr>
              <a:t>Infrastructure defined entirely in Terraform across 12 purpose-built modules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/>
              <a:t>Covers networking, security, compute, database, registry, and observability layers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 dirty="0" err="1"/>
              <a:t>VNet</a:t>
            </a:r>
            <a:r>
              <a:rPr lang="en-US" sz="1200" dirty="0"/>
              <a:t> with 5 dedicated subnets — App Gateway, App Service, Agent, Private Endpoints, Firewall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/>
              <a:t>Azure Firewall + UDR enforces all outbound egress across every subnet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 dirty="0"/>
              <a:t>App Service for Containers deployed with </a:t>
            </a:r>
            <a:r>
              <a:rPr lang="en-US" sz="1200" dirty="0" err="1"/>
              <a:t>VNet</a:t>
            </a:r>
            <a:r>
              <a:rPr lang="en-US" sz="1200" dirty="0"/>
              <a:t> integration and app settings injected via variables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/>
              <a:t>MySQL Flexible Server and ACR exposed only via Private Endpoints — no public access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/>
              <a:t>Application Gateway with WAF v2 as the entry point — backend routed to App Service FQDN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200"/>
              <a:t>User-Assigned Managed Identity as the OIDC base for pipeline authentication — no stored credentials</a:t>
            </a:r>
            <a:endParaRPr lang="en-US" sz="120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0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sz="1000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346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C3384-0332-36E2-BE7C-FFC80D8A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08" y="639193"/>
            <a:ext cx="3982627" cy="3653029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b="1" kern="1200">
                <a:latin typeface="+mj-lt"/>
                <a:ea typeface="+mj-ea"/>
                <a:cs typeface="+mj-cs"/>
              </a:rPr>
              <a:t>Target Architecture</a:t>
            </a:r>
            <a:endParaRPr lang="en-US" sz="4000" b="1" kern="1200">
              <a:latin typeface="+mj-lt"/>
              <a:ea typeface="Calibri"/>
              <a:cs typeface="Calibri"/>
            </a:endParaRPr>
          </a:p>
        </p:txBody>
      </p:sp>
      <p:sp>
        <p:nvSpPr>
          <p:cNvPr id="6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9A3746-3B3E-8DF9-2864-182944270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0" r="2" b="2"/>
          <a:stretch>
            <a:fillRect/>
          </a:stretch>
        </p:blipFill>
        <p:spPr>
          <a:xfrm>
            <a:off x="4747168" y="640080"/>
            <a:ext cx="7028871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4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8" name="Rectangle 157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A91D9D84-225B-E7DB-9938-CE4E7ACF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4000" b="1">
                <a:latin typeface="Bookman Old Style"/>
                <a:ea typeface="+mn-ea"/>
                <a:cs typeface="+mn-cs"/>
              </a:rPr>
              <a:t>Agent Network &amp; Operational Requirements</a:t>
            </a:r>
            <a:endParaRPr lang="en-US" sz="4000" b="1">
              <a:latin typeface="Bookman Old Style"/>
              <a:ea typeface="Calibri"/>
              <a:cs typeface="Calibri"/>
            </a:endParaRPr>
          </a:p>
        </p:txBody>
      </p:sp>
      <p:graphicFrame>
        <p:nvGraphicFramePr>
          <p:cNvPr id="144" name="Content Placeholder 4">
            <a:extLst>
              <a:ext uri="{FF2B5EF4-FFF2-40B4-BE49-F238E27FC236}">
                <a16:creationId xmlns:a16="http://schemas.microsoft.com/office/drawing/2014/main" id="{79744164-2AC6-D8F7-25C6-A2E9AD3C5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946023"/>
              </p:ext>
            </p:extLst>
          </p:nvPr>
        </p:nvGraphicFramePr>
        <p:xfrm>
          <a:off x="838200" y="2074986"/>
          <a:ext cx="10515601" cy="385261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178681">
                  <a:extLst>
                    <a:ext uri="{9D8B030D-6E8A-4147-A177-3AD203B41FA5}">
                      <a16:colId xmlns:a16="http://schemas.microsoft.com/office/drawing/2014/main" val="3980850896"/>
                    </a:ext>
                  </a:extLst>
                </a:gridCol>
                <a:gridCol w="6336920">
                  <a:extLst>
                    <a:ext uri="{9D8B030D-6E8A-4147-A177-3AD203B41FA5}">
                      <a16:colId xmlns:a16="http://schemas.microsoft.com/office/drawing/2014/main" val="3805234251"/>
                    </a:ext>
                  </a:extLst>
                </a:gridCol>
              </a:tblGrid>
              <a:tr h="525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rgbClr val="000000"/>
                          </a:solidFill>
                          <a:effectLst/>
                        </a:rPr>
                        <a:t>Requirement</a:t>
                      </a:r>
                    </a:p>
                  </a:txBody>
                  <a:tcPr marL="115055" marR="115055" marT="57528" marB="115055"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rgbClr val="000000"/>
                          </a:solidFill>
                          <a:effectLst/>
                        </a:rPr>
                        <a:t>Details</a:t>
                      </a:r>
                    </a:p>
                  </a:txBody>
                  <a:tcPr marL="115055" marR="115055" marT="57528" marB="115055" anchor="ctr"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207906"/>
                  </a:ext>
                </a:extLst>
              </a:tr>
              <a:tr h="83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Network placement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Agent must be in the same 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VNet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(or peered) to reach private endpoints</a:t>
                      </a: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952717"/>
                  </a:ext>
                </a:extLst>
              </a:tr>
              <a:tr h="83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Outbound internet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Allow dev.azure.com, *.blob.core.windows.net, *.azurecr.io, aka.ms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580954"/>
                  </a:ext>
                </a:extLst>
              </a:tr>
              <a:tr h="83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Private endpoint access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UDR routes all agent traffic through the Firewall — no direct public access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474623"/>
                  </a:ext>
                </a:extLst>
              </a:tr>
              <a:tr h="831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Secrets handling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Rotate PAT every 90 days; never bake the token into the image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055" marR="115055" marT="57528" marB="115055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376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76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EB17C-5A44-AC3E-4BDE-F36AF41A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000" b="1">
                <a:solidFill>
                  <a:srgbClr val="000000"/>
                </a:solidFill>
                <a:latin typeface="Bookman Old Style"/>
                <a:ea typeface="+mn-ea"/>
                <a:cs typeface="+mn-cs"/>
              </a:rPr>
              <a:t> Agent Model — When to Use Which</a:t>
            </a:r>
            <a:endParaRPr lang="en-US" sz="4000" b="1">
              <a:solidFill>
                <a:srgbClr val="000000"/>
              </a:solidFill>
              <a:latin typeface="Bookman Old Style"/>
              <a:ea typeface="Calibri"/>
              <a:cs typeface="Calibri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9CE8307-4FAC-8992-69EF-B8103F314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984200"/>
              </p:ext>
            </p:extLst>
          </p:nvPr>
        </p:nvGraphicFramePr>
        <p:xfrm>
          <a:off x="904602" y="3092579"/>
          <a:ext cx="10378439" cy="305978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767169">
                  <a:extLst>
                    <a:ext uri="{9D8B030D-6E8A-4147-A177-3AD203B41FA5}">
                      <a16:colId xmlns:a16="http://schemas.microsoft.com/office/drawing/2014/main" val="1038402810"/>
                    </a:ext>
                  </a:extLst>
                </a:gridCol>
                <a:gridCol w="3827666">
                  <a:extLst>
                    <a:ext uri="{9D8B030D-6E8A-4147-A177-3AD203B41FA5}">
                      <a16:colId xmlns:a16="http://schemas.microsoft.com/office/drawing/2014/main" val="86629164"/>
                    </a:ext>
                  </a:extLst>
                </a:gridCol>
                <a:gridCol w="3783604">
                  <a:extLst>
                    <a:ext uri="{9D8B030D-6E8A-4147-A177-3AD203B41FA5}">
                      <a16:colId xmlns:a16="http://schemas.microsoft.com/office/drawing/2014/main" val="2710293324"/>
                    </a:ext>
                  </a:extLst>
                </a:gridCol>
              </a:tblGrid>
              <a:tr h="556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en-US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rgbClr val="000000"/>
                          </a:solidFill>
                          <a:effectLst/>
                        </a:rPr>
                        <a:t>Best For</a:t>
                      </a:r>
                      <a:endParaRPr lang="en-US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rgbClr val="000000"/>
                          </a:solidFill>
                          <a:effectLst/>
                        </a:rPr>
                        <a:t>Limitations</a:t>
                      </a:r>
                      <a:endParaRPr lang="en-US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54071"/>
                  </a:ext>
                </a:extLst>
              </a:tr>
              <a:tr h="83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Self-hosted (this project)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Private 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VNet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· enterprise toolchain · license tools · controlled egress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You own patching, scaling, and availability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455020"/>
                  </a:ext>
                </a:extLst>
              </a:tr>
              <a:tr h="83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VM Scale Sets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Elastic workload · cost-</a:t>
                      </a: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optimised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· auto-scale to zero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ADO manages scaling; you still own the base VM image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0671580"/>
                  </a:ext>
                </a:extLst>
              </a:tr>
              <a:tr h="8343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Managed DevOps Pools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Microsoft-managed self-hosted — best of both worlds</a:t>
                      </a:r>
                      <a:endParaRPr lang="en-US" sz="1200"/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VNet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Integration needs extra configuration- regional availability varies by subscription</a:t>
                      </a:r>
                    </a:p>
                  </a:txBody>
                  <a:tcPr marL="157529" marR="121176" marT="121176" marB="12117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889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616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1" name="Rectangle 200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91D4C-97AB-B423-61A2-DCFB86B2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en-US" sz="3600" b="1">
                <a:latin typeface="Bookman Old Style"/>
                <a:ea typeface="Calibri"/>
                <a:cs typeface="Calibri"/>
              </a:rPr>
              <a:t>Self-hosted Agent Evidence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0D5CEA-D5F3-32CC-69D7-12CF40FB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6" r="21092"/>
          <a:stretch>
            <a:fillRect/>
          </a:stretch>
        </p:blipFill>
        <p:spPr>
          <a:xfrm>
            <a:off x="6604598" y="365125"/>
            <a:ext cx="2397173" cy="2194560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796127-AC70-BFF2-456E-66D37A2C8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" r="11491" b="2"/>
          <a:stretch>
            <a:fillRect/>
          </a:stretch>
        </p:blipFill>
        <p:spPr>
          <a:xfrm>
            <a:off x="9287394" y="555783"/>
            <a:ext cx="2540538" cy="1813244"/>
          </a:xfrm>
          <a:prstGeom prst="rect">
            <a:avLst/>
          </a:prstGeom>
        </p:spPr>
      </p:pic>
      <p:sp>
        <p:nvSpPr>
          <p:cNvPr id="202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2B3A54-C67D-E834-232A-B9048E3FB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Agent image built from </a:t>
            </a:r>
            <a:r>
              <a:rPr lang="en-US" sz="1200" dirty="0" err="1">
                <a:ea typeface="+mn-lt"/>
                <a:cs typeface="+mn-lt"/>
              </a:rPr>
              <a:t>Dockerfile</a:t>
            </a:r>
            <a:r>
              <a:rPr lang="en-US" sz="1200" dirty="0">
                <a:ea typeface="+mn-lt"/>
                <a:cs typeface="+mn-lt"/>
              </a:rPr>
              <a:t> → run as a Docker container locally</a:t>
            </a: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Container self-registers to ADO pool ado-selfhosted-</a:t>
            </a:r>
            <a:r>
              <a:rPr lang="en-US" sz="1200" dirty="0" err="1">
                <a:ea typeface="+mn-lt"/>
                <a:cs typeface="+mn-lt"/>
              </a:rPr>
              <a:t>linux</a:t>
            </a:r>
            <a:r>
              <a:rPr lang="en-US" sz="1200" dirty="0">
                <a:ea typeface="+mn-lt"/>
                <a:cs typeface="+mn-lt"/>
              </a:rPr>
              <a:t> via start.sh</a:t>
            </a: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Pipeline stages execute on this containerized agent — no Microsoft-hosted runner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861CE-AC3E-5D5B-C0A9-7E824729B1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20" r="17600" b="1"/>
          <a:stretch>
            <a:fillRect/>
          </a:stretch>
        </p:blipFill>
        <p:spPr>
          <a:xfrm>
            <a:off x="7250111" y="2766251"/>
            <a:ext cx="3860626" cy="341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3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F58FE-B6D2-1311-F5A0-4FAE3982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Bookman Old Style"/>
                <a:ea typeface="+mn-ea"/>
                <a:cs typeface="+mn-cs"/>
              </a:rPr>
              <a:t>ADO Pipeline &amp; Reusable Templates</a:t>
            </a:r>
            <a:endParaRPr lang="en-US" sz="3600" b="1">
              <a:solidFill>
                <a:srgbClr val="000000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E1417-ECAF-7934-F5A1-396A2EF4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200">
                <a:solidFill>
                  <a:srgbClr val="000000"/>
                </a:solidFill>
              </a:rPr>
              <a:t>Build &amp; Test → Security Scan → Push to ACR → Deploy Dev → Smoke Test → Manual Approval → Deploy Prod → Auto-Rollback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F87629-0ED3-141F-D56B-549B2073D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39669"/>
              </p:ext>
            </p:extLst>
          </p:nvPr>
        </p:nvGraphicFramePr>
        <p:xfrm>
          <a:off x="5911532" y="2605870"/>
          <a:ext cx="5150278" cy="3471015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624708">
                  <a:extLst>
                    <a:ext uri="{9D8B030D-6E8A-4147-A177-3AD203B41FA5}">
                      <a16:colId xmlns:a16="http://schemas.microsoft.com/office/drawing/2014/main" val="1761466706"/>
                    </a:ext>
                  </a:extLst>
                </a:gridCol>
                <a:gridCol w="3525570">
                  <a:extLst>
                    <a:ext uri="{9D8B030D-6E8A-4147-A177-3AD203B41FA5}">
                      <a16:colId xmlns:a16="http://schemas.microsoft.com/office/drawing/2014/main" val="2399059118"/>
                    </a:ext>
                  </a:extLst>
                </a:gridCol>
              </a:tblGrid>
              <a:tr h="3044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Template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FFFFFF"/>
                          </a:solidFill>
                          <a:effectLst/>
                        </a:rPr>
                        <a:t>What it does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1784459519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build-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container.yml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Maven build + test · multi-stage Docker build · exports image.tar.gz as pipeline artifact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3284433747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security-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scan.yml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Trivy</a:t>
                      </a: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 CVE gate · blocks HIGH/CRITICAL · publishes JSON + SARIF report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1694799418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push-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acr.yml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Loads artifact · pushes :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BuildId</a:t>
                      </a: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 + :git-sha to ACR · no silent image rebuild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2352462483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deploy-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appservice.yml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Deployment job · triggers ADO environment approval gate · writes :stable tag after prod success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30839648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smoke-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test.yml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Health check with 5 × 20s retry loop · /actuator/health must return 200 OK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4099264956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post-deploy-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validation.yml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Validates health status · homepage response time ≤ 5s · /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owners</a:t>
                      </a: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 endpoint reachable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3329924622"/>
                  </a:ext>
                </a:extLst>
              </a:tr>
              <a:tr h="452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rollback.yml</a:t>
                      </a:r>
                    </a:p>
                  </a:txBody>
                  <a:tcPr marL="84022" marR="27106" marT="64632" marB="64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Resets App Service </a:t>
                      </a:r>
                      <a:r>
                        <a:rPr lang="en-US" sz="1000" cap="none" spc="0" err="1">
                          <a:solidFill>
                            <a:srgbClr val="000000"/>
                          </a:solidFill>
                          <a:effectLst/>
                        </a:rPr>
                        <a:t>to :</a:t>
                      </a:r>
                      <a:r>
                        <a:rPr lang="en-US" sz="1000" cap="none" spc="0">
                          <a:solidFill>
                            <a:srgbClr val="000000"/>
                          </a:solidFill>
                          <a:effectLst/>
                        </a:rPr>
                        <a:t>stable · restarts container · confirms health before exit</a:t>
                      </a:r>
                    </a:p>
                  </a:txBody>
                  <a:tcPr marL="84022" marR="27106" marT="64632" marB="64632" anchor="ctr"/>
                </a:tc>
                <a:extLst>
                  <a:ext uri="{0D108BD9-81ED-4DB2-BD59-A6C34878D82A}">
                    <a16:rowId xmlns:a16="http://schemas.microsoft.com/office/drawing/2014/main" val="1966253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113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6" name="Rectangle 555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8" name="Rectangle 557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C628C-BE0E-C5F8-4C1E-3F9F626B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1" kern="1200">
                <a:latin typeface="Bookman Old Style"/>
              </a:rPr>
              <a:t>Target Pipeline- Architecture</a:t>
            </a:r>
            <a:endParaRPr lang="en-US" sz="4000" b="1" kern="1200">
              <a:latin typeface="Bookman Old Style"/>
              <a:ea typeface="Calibri"/>
              <a:cs typeface="Calibri"/>
            </a:endParaRPr>
          </a:p>
        </p:txBody>
      </p:sp>
      <p:sp>
        <p:nvSpPr>
          <p:cNvPr id="560" name="Rectangle: Rounded Corners 559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AB4E6D-FFF4-1D8A-DC9C-28B559938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" y="2802961"/>
            <a:ext cx="11420856" cy="27695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7978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Arc 105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F8EEB-B02F-86B1-3036-C356E3C3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>
                <a:latin typeface="Bookman Old Style"/>
                <a:ea typeface="+mn-ea"/>
                <a:cs typeface="+mn-cs"/>
              </a:rPr>
              <a:t>GitHub Actions -Alternative</a:t>
            </a:r>
            <a:endParaRPr lang="en-US" sz="3600" b="1">
              <a:latin typeface="Bookman Old Style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6D9B6-202B-6822-E78A-74634D02B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Builds the same Spring </a:t>
            </a:r>
            <a:r>
              <a:rPr lang="en-US" sz="1200" dirty="0" err="1"/>
              <a:t>PetClinic</a:t>
            </a:r>
            <a:r>
              <a:rPr lang="en-US" sz="1200" dirty="0"/>
              <a:t> container image using identical Maven + Docker steps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 dirty="0"/>
              <a:t>Scans with </a:t>
            </a:r>
            <a:r>
              <a:rPr lang="en-US" sz="1200" dirty="0" err="1"/>
              <a:t>Trivy</a:t>
            </a:r>
            <a:r>
              <a:rPr lang="en-US" sz="1200" dirty="0"/>
              <a:t> (</a:t>
            </a:r>
            <a:r>
              <a:rPr lang="en-US" sz="1200" dirty="0" err="1"/>
              <a:t>aquasecurity</a:t>
            </a:r>
            <a:r>
              <a:rPr lang="en-US" sz="1200" dirty="0"/>
              <a:t>/</a:t>
            </a:r>
            <a:r>
              <a:rPr lang="en-US" sz="1200" dirty="0" err="1"/>
              <a:t>trivy</a:t>
            </a:r>
            <a:r>
              <a:rPr lang="en-US" sz="1200" dirty="0"/>
              <a:t>-action) — same CVE gate as the ADO pipeline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/>
              <a:t>Authenticates to Azure via OIDC (azure/login@v2) — no client secrets, no stored passwords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/>
              <a:t>Deploys to Azure App Service for Containers using azure/webapps-deploy@v3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 dirty="0"/>
              <a:t>SARIF report uploaded to GitHub Security tab (</a:t>
            </a:r>
            <a:r>
              <a:rPr lang="en-US" sz="1200" dirty="0" err="1"/>
              <a:t>github</a:t>
            </a:r>
            <a:r>
              <a:rPr lang="en-US" sz="1200" dirty="0"/>
              <a:t>/</a:t>
            </a:r>
            <a:r>
              <a:rPr lang="en-US" sz="1200" dirty="0" err="1"/>
              <a:t>codeql</a:t>
            </a:r>
            <a:r>
              <a:rPr lang="en-US" sz="1200" dirty="0"/>
              <a:t>-action/upload-sarif@v3)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/>
              <a:t>GitHub Actions issues a per-job OIDC token — exchanged with Azure AD at runtime. No password is ever stored.</a:t>
            </a:r>
            <a:br>
              <a:rPr lang="en-US" sz="1200" dirty="0"/>
            </a:b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300"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C191E5-BD61-D7A6-D858-DFCDC249F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045629"/>
              </p:ext>
            </p:extLst>
          </p:nvPr>
        </p:nvGraphicFramePr>
        <p:xfrm>
          <a:off x="6541053" y="899162"/>
          <a:ext cx="4777382" cy="488696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011013">
                  <a:extLst>
                    <a:ext uri="{9D8B030D-6E8A-4147-A177-3AD203B41FA5}">
                      <a16:colId xmlns:a16="http://schemas.microsoft.com/office/drawing/2014/main" val="639418391"/>
                    </a:ext>
                  </a:extLst>
                </a:gridCol>
                <a:gridCol w="2766369">
                  <a:extLst>
                    <a:ext uri="{9D8B030D-6E8A-4147-A177-3AD203B41FA5}">
                      <a16:colId xmlns:a16="http://schemas.microsoft.com/office/drawing/2014/main" val="3478942794"/>
                    </a:ext>
                  </a:extLst>
                </a:gridCol>
              </a:tblGrid>
              <a:tr h="798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effectLst/>
                        </a:rPr>
                        <a:t>Platform</a:t>
                      </a:r>
                    </a:p>
                  </a:txBody>
                  <a:tcPr marL="335029" marR="201018" marT="201018" marB="2010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effectLst/>
                        </a:rPr>
                        <a:t>Choose When</a:t>
                      </a:r>
                    </a:p>
                  </a:txBody>
                  <a:tcPr marL="335029" marR="201018" marT="201018" marB="2010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832744"/>
                  </a:ext>
                </a:extLst>
              </a:tr>
              <a:tr h="2166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</a:rPr>
                        <a:t>Azure DevOps</a:t>
                      </a:r>
                      <a:endParaRPr lang="en-US" sz="1200" dirty="0">
                        <a:solidFill>
                          <a:srgbClr val="262626"/>
                        </a:solidFill>
                        <a:effectLst/>
                      </a:endParaRPr>
                    </a:p>
                  </a:txBody>
                  <a:tcPr marL="335029" marR="201018" marT="201018" marB="2010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</a:rPr>
                        <a:t>Enterprise-wide ALM · Work item + PR traceability · ADO Environments approval gates · Key Vault-backed secrets · Large team governance</a:t>
                      </a:r>
                      <a:endParaRPr lang="en-US" sz="1200" dirty="0">
                        <a:solidFill>
                          <a:srgbClr val="262626"/>
                        </a:solidFill>
                        <a:effectLst/>
                      </a:endParaRPr>
                    </a:p>
                  </a:txBody>
                  <a:tcPr marL="335029" marR="201018" marT="201018" marB="2010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341090"/>
                  </a:ext>
                </a:extLst>
              </a:tr>
              <a:tr h="1921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effectLst/>
                        </a:rPr>
                        <a:t>GitHub Actions</a:t>
                      </a:r>
                      <a:endParaRPr lang="en-US" sz="1200" dirty="0">
                        <a:solidFill>
                          <a:srgbClr val="262626"/>
                        </a:solidFill>
                        <a:effectLst/>
                      </a:endParaRPr>
                    </a:p>
                  </a:txBody>
                  <a:tcPr marL="335029" marR="201018" marT="201018" marB="2010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effectLst/>
                        </a:rPr>
                        <a:t>GitHub-native source control · </a:t>
                      </a:r>
                      <a:r>
                        <a:rPr lang="en-US" sz="1200" dirty="0" err="1">
                          <a:solidFill>
                            <a:srgbClr val="262626"/>
                          </a:solidFill>
                          <a:effectLst/>
                        </a:rPr>
                        <a:t>Open source</a:t>
                      </a:r>
                      <a:r>
                        <a:rPr lang="en-US" sz="1200" dirty="0">
                          <a:solidFill>
                            <a:srgbClr val="262626"/>
                          </a:solidFill>
                          <a:effectLst/>
                        </a:rPr>
                        <a:t> projects · PR-based validation workflows · Simpler pipeline with fewer governance layers</a:t>
                      </a:r>
                    </a:p>
                  </a:txBody>
                  <a:tcPr marL="335029" marR="201018" marT="201018" marB="2010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733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697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BBCD2-6EAA-CB39-8756-70674547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b="1">
                <a:latin typeface="Bookman Old Style"/>
                <a:ea typeface="+mn-ea"/>
                <a:cs typeface="+mn-cs"/>
              </a:rPr>
              <a:t>Secrets &amp; OIDC — Zero Stored Credentials</a:t>
            </a:r>
            <a:endParaRPr lang="en-US" sz="3600" b="1">
              <a:latin typeface="Bookman Old Style"/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4100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914C-E4C6-EF71-D269-B54C8FCD7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/>
              <a:t>Three Layers of Protection</a:t>
            </a:r>
            <a:endParaRPr lang="en-US" sz="12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/>
              <a:t>Secrets never in YAML or Git — Key Vault is the only source 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/>
              <a:t>All values masked in every pipeline log — no accidental exposure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/>
              <a:t>OIDC replaces stored credentials — token lives only for the job duration</a:t>
            </a:r>
            <a:endParaRPr lang="en-US" sz="1200">
              <a:ea typeface="Calibri"/>
              <a:cs typeface="Calibri"/>
            </a:endParaRPr>
          </a:p>
          <a:p>
            <a:pPr lvl="1">
              <a:lnSpc>
                <a:spcPct val="90000"/>
              </a:lnSpc>
              <a:buFont typeface="Courier New"/>
              <a:buChar char="o"/>
            </a:pPr>
            <a:endParaRPr lang="en-US" sz="1400"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D2F73-6C9E-2A29-CAA2-C4E81FCB2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58472"/>
              </p:ext>
            </p:extLst>
          </p:nvPr>
        </p:nvGraphicFramePr>
        <p:xfrm>
          <a:off x="6541053" y="1798318"/>
          <a:ext cx="4777382" cy="308865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804659">
                  <a:extLst>
                    <a:ext uri="{9D8B030D-6E8A-4147-A177-3AD203B41FA5}">
                      <a16:colId xmlns:a16="http://schemas.microsoft.com/office/drawing/2014/main" val="1903146820"/>
                    </a:ext>
                  </a:extLst>
                </a:gridCol>
                <a:gridCol w="1972723">
                  <a:extLst>
                    <a:ext uri="{9D8B030D-6E8A-4147-A177-3AD203B41FA5}">
                      <a16:colId xmlns:a16="http://schemas.microsoft.com/office/drawing/2014/main" val="1323608407"/>
                    </a:ext>
                  </a:extLst>
                </a:gridCol>
              </a:tblGrid>
              <a:tr h="367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What We Replaced</a:t>
                      </a:r>
                    </a:p>
                  </a:txBody>
                  <a:tcPr marL="81361" marR="81361" marT="40681" marB="406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What We Use Now</a:t>
                      </a:r>
                    </a:p>
                  </a:txBody>
                  <a:tcPr marL="81361" marR="81361" marT="40681" marB="40681" anchor="ctr"/>
                </a:tc>
                <a:extLst>
                  <a:ext uri="{0D108BD9-81ED-4DB2-BD59-A6C34878D82A}">
                    <a16:rowId xmlns:a16="http://schemas.microsoft.com/office/drawing/2014/main" val="885441223"/>
                  </a:ext>
                </a:extLst>
              </a:tr>
              <a:tr h="617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Jenkins with credentials plain-text</a:t>
                      </a:r>
                    </a:p>
                  </a:txBody>
                  <a:tcPr marL="81361" marR="81361" marT="40681" marB="406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Key Vault-backed variable group</a:t>
                      </a:r>
                    </a:p>
                  </a:txBody>
                  <a:tcPr marL="81361" marR="81361" marT="40681" marB="40681" anchor="ctr"/>
                </a:tc>
                <a:extLst>
                  <a:ext uri="{0D108BD9-81ED-4DB2-BD59-A6C34878D82A}">
                    <a16:rowId xmlns:a16="http://schemas.microsoft.com/office/drawing/2014/main" val="777788770"/>
                  </a:ext>
                </a:extLst>
              </a:tr>
              <a:tr h="617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echo $PASS | docker login</a:t>
                      </a:r>
                    </a:p>
                  </a:txBody>
                  <a:tcPr marL="81361" marR="81361" marT="40681" marB="406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Docker@2 OIDC service connection</a:t>
                      </a:r>
                    </a:p>
                  </a:txBody>
                  <a:tcPr marL="81361" marR="81361" marT="40681" marB="40681" anchor="ctr"/>
                </a:tc>
                <a:extLst>
                  <a:ext uri="{0D108BD9-81ED-4DB2-BD59-A6C34878D82A}">
                    <a16:rowId xmlns:a16="http://schemas.microsoft.com/office/drawing/2014/main" val="2445366253"/>
                  </a:ext>
                </a:extLst>
              </a:tr>
              <a:tr h="868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GitLab $CI_REGISTRY_PASSWORD</a:t>
                      </a:r>
                    </a:p>
                  </a:txBody>
                  <a:tcPr marL="81361" marR="81361" marT="40681" marB="406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ACR service connection via OIDC</a:t>
                      </a:r>
                    </a:p>
                  </a:txBody>
                  <a:tcPr marL="81361" marR="81361" marT="40681" marB="40681" anchor="ctr"/>
                </a:tc>
                <a:extLst>
                  <a:ext uri="{0D108BD9-81ED-4DB2-BD59-A6C34878D82A}">
                    <a16:rowId xmlns:a16="http://schemas.microsoft.com/office/drawing/2014/main" val="4129378564"/>
                  </a:ext>
                </a:extLst>
              </a:tr>
              <a:tr h="617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${</a:t>
                      </a:r>
                      <a:r>
                        <a:rPr lang="en-US" sz="1200" dirty="0" err="1">
                          <a:effectLst/>
                        </a:rPr>
                        <a:t>bamboo.buildNumber</a:t>
                      </a:r>
                      <a:r>
                        <a:rPr lang="en-US" sz="1200" dirty="0">
                          <a:effectLst/>
                        </a:rPr>
                        <a:t>} plan variable</a:t>
                      </a:r>
                    </a:p>
                  </a:txBody>
                  <a:tcPr marL="81361" marR="81361" marT="40681" marB="406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$(</a:t>
                      </a:r>
                      <a:r>
                        <a:rPr lang="en-US" sz="1200" dirty="0" err="1">
                          <a:effectLst/>
                        </a:rPr>
                        <a:t>Build.BuildId</a:t>
                      </a:r>
                      <a:r>
                        <a:rPr lang="en-US" sz="1200" dirty="0">
                          <a:effectLst/>
                        </a:rPr>
                        <a:t>) — ADO built-in</a:t>
                      </a:r>
                    </a:p>
                  </a:txBody>
                  <a:tcPr marL="81361" marR="81361" marT="40681" marB="40681" anchor="ctr"/>
                </a:tc>
                <a:extLst>
                  <a:ext uri="{0D108BD9-81ED-4DB2-BD59-A6C34878D82A}">
                    <a16:rowId xmlns:a16="http://schemas.microsoft.com/office/drawing/2014/main" val="17185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89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79782-757B-F1A6-C693-2A7C845F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000" b="1">
                <a:solidFill>
                  <a:schemeClr val="dk1"/>
                </a:solidFill>
                <a:latin typeface="Bookman Old Style"/>
                <a:ea typeface="+mn-ea"/>
                <a:cs typeface="+mn-cs"/>
              </a:rPr>
              <a:t>Immutable Image Promotion Chain</a:t>
            </a:r>
            <a:endParaRPr lang="en-US" sz="4000" b="1">
              <a:solidFill>
                <a:schemeClr val="dk1"/>
              </a:solidFill>
              <a:latin typeface="Bookman Old Style"/>
              <a:ea typeface="Calibri"/>
              <a:cs typeface="Calibri"/>
            </a:endParaRPr>
          </a:p>
          <a:p>
            <a:pPr defTabSz="914400"/>
            <a:endParaRPr lang="en-US" sz="4000" b="1" kern="1200" dirty="0">
              <a:latin typeface="+mj-lt"/>
              <a:ea typeface="Calibri"/>
              <a:cs typeface="Calibri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39B9C1-7C5D-7D74-1619-E9C7BBEED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134129"/>
              </p:ext>
            </p:extLst>
          </p:nvPr>
        </p:nvGraphicFramePr>
        <p:xfrm>
          <a:off x="1231610" y="3017519"/>
          <a:ext cx="9724424" cy="320990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588899">
                  <a:extLst>
                    <a:ext uri="{9D8B030D-6E8A-4147-A177-3AD203B41FA5}">
                      <a16:colId xmlns:a16="http://schemas.microsoft.com/office/drawing/2014/main" val="1526423486"/>
                    </a:ext>
                  </a:extLst>
                </a:gridCol>
                <a:gridCol w="4315653">
                  <a:extLst>
                    <a:ext uri="{9D8B030D-6E8A-4147-A177-3AD203B41FA5}">
                      <a16:colId xmlns:a16="http://schemas.microsoft.com/office/drawing/2014/main" val="2432317228"/>
                    </a:ext>
                  </a:extLst>
                </a:gridCol>
                <a:gridCol w="2819872">
                  <a:extLst>
                    <a:ext uri="{9D8B030D-6E8A-4147-A177-3AD203B41FA5}">
                      <a16:colId xmlns:a16="http://schemas.microsoft.com/office/drawing/2014/main" val="823642169"/>
                    </a:ext>
                  </a:extLst>
                </a:gridCol>
              </a:tblGrid>
              <a:tr h="345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Pipeline Stage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What Happens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Tag Written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249452"/>
                  </a:ext>
                </a:extLst>
              </a:tr>
              <a:tr h="56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Build &amp; Test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Maven build → Docker multi-stage → docker save artifact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None — local only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947472"/>
                  </a:ext>
                </a:extLst>
              </a:tr>
              <a:tr h="569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Security Scan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docker load same artifact → </a:t>
                      </a:r>
                      <a:r>
                        <a:rPr lang="en-US" sz="1200" dirty="0" err="1">
                          <a:effectLst/>
                        </a:rPr>
                        <a:t>Trivy</a:t>
                      </a:r>
                      <a:r>
                        <a:rPr lang="en-US" sz="1200" dirty="0">
                          <a:effectLst/>
                        </a:rPr>
                        <a:t> HIGH/CRITICAL gate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None — blocked if CVE found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8481205"/>
                  </a:ext>
                </a:extLst>
              </a:tr>
              <a:tr h="345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Push to ACR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docker load → push to registry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:</a:t>
                      </a:r>
                      <a:r>
                        <a:rPr lang="en-US" sz="1200" dirty="0" err="1">
                          <a:effectLst/>
                        </a:rPr>
                        <a:t>BuildId</a:t>
                      </a:r>
                      <a:r>
                        <a:rPr lang="en-US" sz="1200" dirty="0">
                          <a:effectLst/>
                        </a:rPr>
                        <a:t> + :git-sha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560502"/>
                  </a:ext>
                </a:extLst>
              </a:tr>
              <a:tr h="345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Deploy Dev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Pull :</a:t>
                      </a:r>
                      <a:r>
                        <a:rPr lang="en-US" sz="1200" dirty="0" err="1">
                          <a:effectLst/>
                        </a:rPr>
                        <a:t>BuildId</a:t>
                      </a:r>
                      <a:r>
                        <a:rPr lang="en-US" sz="1200" dirty="0">
                          <a:effectLst/>
                        </a:rPr>
                        <a:t> → deploy → smoke test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None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545811"/>
                  </a:ext>
                </a:extLst>
              </a:tr>
              <a:tr h="345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Manual Approval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Release Manager approves in ADO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None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25060"/>
                  </a:ext>
                </a:extLst>
              </a:tr>
              <a:tr h="345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Deploy Prod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Pull same :</a:t>
                      </a:r>
                      <a:r>
                        <a:rPr lang="en-US" sz="1200" dirty="0" err="1">
                          <a:effectLst/>
                        </a:rPr>
                        <a:t>BuildId</a:t>
                      </a:r>
                      <a:r>
                        <a:rPr lang="en-US" sz="1200" dirty="0">
                          <a:effectLst/>
                        </a:rPr>
                        <a:t> → deploy prod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stable written on success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131131"/>
                  </a:ext>
                </a:extLst>
              </a:tr>
              <a:tr h="345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Auto-Rollback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Redeploy :stable — last known </a:t>
                      </a:r>
                      <a:r>
                        <a:rPr lang="en-US" sz="1200" dirty="0" err="1">
                          <a:effectLst/>
                        </a:rPr>
                        <a:t>good</a:t>
                      </a: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None</a:t>
                      </a:r>
                      <a:endParaRPr lang="en-US" sz="1200" dirty="0">
                        <a:effectLst/>
                      </a:endParaRPr>
                    </a:p>
                  </a:txBody>
                  <a:tcPr marL="72426" marR="72426" marT="36213" marB="36213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55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68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A7257-149F-3E66-E7D4-F02EE50E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b="1">
                <a:latin typeface="Bookman Old Style"/>
                <a:ea typeface="Calibri"/>
                <a:cs typeface="Calibri"/>
              </a:rPr>
              <a:t>Release Governance &amp; Approvals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9523-1784-B20F-B4B4-A600B32CD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buNone/>
            </a:pPr>
            <a:r>
              <a:rPr lang="en-US" sz="1200"/>
              <a:t>Three layers of protection </a:t>
            </a:r>
            <a:endParaRPr lang="en-US" sz="1200">
              <a:ea typeface="Calibri"/>
              <a:cs typeface="Calibri"/>
            </a:endParaRPr>
          </a:p>
          <a:p>
            <a:pPr marL="1143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ea typeface="Calibri"/>
              <a:cs typeface="Calibri"/>
            </a:endParaRPr>
          </a:p>
          <a:p>
            <a:pPr marL="1143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ea typeface="Calibri"/>
              <a:cs typeface="Calibri"/>
            </a:endParaRPr>
          </a:p>
          <a:p>
            <a:pPr marL="0" indent="0" defTabSz="914400">
              <a:lnSpc>
                <a:spcPct val="90000"/>
              </a:lnSpc>
              <a:buNone/>
            </a:pPr>
            <a:r>
              <a:rPr lang="en-US" sz="1600" b="1">
                <a:latin typeface="Bookman Old Style"/>
              </a:rPr>
              <a:t>Dev vs Prod Deploy Model</a:t>
            </a:r>
            <a:endParaRPr lang="en-US" sz="1600">
              <a:latin typeface="Bookman Old Style"/>
              <a:ea typeface="Calibri"/>
              <a:cs typeface="Calibri"/>
            </a:endParaRPr>
          </a:p>
          <a:p>
            <a:pPr marL="0" indent="0" defTabSz="914400">
              <a:lnSpc>
                <a:spcPct val="90000"/>
              </a:lnSpc>
              <a:buNone/>
            </a:pPr>
            <a:endParaRPr lang="en-US" sz="1200" b="1" dirty="0"/>
          </a:p>
          <a:p>
            <a:pPr marL="1143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/>
              <a:t>git push → Dev (auto-deploy) → ✅ Smoke Test → 🔐 Human Approval → Prod Deploy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F9DF3FEF-537C-EFAF-C03D-4D0C4C482B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1332590"/>
              </p:ext>
            </p:extLst>
          </p:nvPr>
        </p:nvGraphicFramePr>
        <p:xfrm>
          <a:off x="5911532" y="2600589"/>
          <a:ext cx="5150278" cy="3631923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987348">
                  <a:extLst>
                    <a:ext uri="{9D8B030D-6E8A-4147-A177-3AD203B41FA5}">
                      <a16:colId xmlns:a16="http://schemas.microsoft.com/office/drawing/2014/main" val="2770696055"/>
                    </a:ext>
                  </a:extLst>
                </a:gridCol>
                <a:gridCol w="3162930">
                  <a:extLst>
                    <a:ext uri="{9D8B030D-6E8A-4147-A177-3AD203B41FA5}">
                      <a16:colId xmlns:a16="http://schemas.microsoft.com/office/drawing/2014/main" val="2290660744"/>
                    </a:ext>
                  </a:extLst>
                </a:gridCol>
              </a:tblGrid>
              <a:tr h="540593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600" b="0" i="0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Layer</a:t>
                      </a:r>
                    </a:p>
                  </a:txBody>
                  <a:tcPr marL="135285" marR="149594" marT="104065" marB="1040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600" b="0" i="0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What We Enforce</a:t>
                      </a:r>
                    </a:p>
                  </a:txBody>
                  <a:tcPr marL="135285" marR="149594" marT="104065" marB="1040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539688"/>
                  </a:ext>
                </a:extLst>
              </a:tr>
              <a:tr h="870394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🔀 Branch Protection</a:t>
                      </a:r>
                    </a:p>
                  </a:txBody>
                  <a:tcPr marL="135285" marR="149594" marT="104065" marB="1040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PR required · 1 reviewer · build must pass · no force push</a:t>
                      </a:r>
                    </a:p>
                  </a:txBody>
                  <a:tcPr marL="135285" marR="149594" marT="104065" marB="1040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976581"/>
                  </a:ext>
                </a:extLst>
              </a:tr>
              <a:tr h="1200196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🔐 Approval Gate</a:t>
                      </a:r>
                    </a:p>
                  </a:txBody>
                  <a:tcPr marL="135285" marR="149594" marT="104065" marB="1040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Pipeline pauses before prod · Release Manager must approve in ADO</a:t>
                      </a:r>
                    </a:p>
                  </a:txBody>
                  <a:tcPr marL="135285" marR="149594" marT="104065" marB="1040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91993"/>
                  </a:ext>
                </a:extLst>
              </a:tr>
              <a:tr h="870394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👥 Segregation of Duties</a:t>
                      </a:r>
                    </a:p>
                  </a:txBody>
                  <a:tcPr marL="135285" marR="149594" marT="104065" marB="1040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30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Dev builds · Manager approves · no one controls both</a:t>
                      </a:r>
                    </a:p>
                  </a:txBody>
                  <a:tcPr marL="135285" marR="149594" marT="104065" marB="1040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84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62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34800-799E-C5AF-925A-6A296C906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 kern="1200">
                <a:latin typeface="Bookman Old Style"/>
              </a:rPr>
              <a:t>Observability</a:t>
            </a:r>
            <a:endParaRPr lang="en-US" sz="3600" b="1" kern="1200">
              <a:latin typeface="Bookman Old Style"/>
              <a:ea typeface="Calibri"/>
              <a:cs typeface="Calibri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0" name="Content Placeholder 7">
            <a:extLst>
              <a:ext uri="{FF2B5EF4-FFF2-40B4-BE49-F238E27FC236}">
                <a16:creationId xmlns:a16="http://schemas.microsoft.com/office/drawing/2014/main" id="{E51D2453-0A3F-6157-F288-478DBB5900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5054929"/>
              </p:ext>
            </p:extLst>
          </p:nvPr>
        </p:nvGraphicFramePr>
        <p:xfrm>
          <a:off x="5640572" y="1119660"/>
          <a:ext cx="5608831" cy="4508105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557708">
                  <a:extLst>
                    <a:ext uri="{9D8B030D-6E8A-4147-A177-3AD203B41FA5}">
                      <a16:colId xmlns:a16="http://schemas.microsoft.com/office/drawing/2014/main" val="839741103"/>
                    </a:ext>
                  </a:extLst>
                </a:gridCol>
                <a:gridCol w="2081111">
                  <a:extLst>
                    <a:ext uri="{9D8B030D-6E8A-4147-A177-3AD203B41FA5}">
                      <a16:colId xmlns:a16="http://schemas.microsoft.com/office/drawing/2014/main" val="2776116211"/>
                    </a:ext>
                  </a:extLst>
                </a:gridCol>
                <a:gridCol w="1970012">
                  <a:extLst>
                    <a:ext uri="{9D8B030D-6E8A-4147-A177-3AD203B41FA5}">
                      <a16:colId xmlns:a16="http://schemas.microsoft.com/office/drawing/2014/main" val="3365133598"/>
                    </a:ext>
                  </a:extLst>
                </a:gridCol>
              </a:tblGrid>
              <a:tr h="636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rgbClr val="FFFFFF"/>
                          </a:solidFill>
                          <a:effectLst/>
                        </a:rPr>
                        <a:t>Layer</a:t>
                      </a: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rgbClr val="FFFFFF"/>
                          </a:solidFill>
                          <a:effectLst/>
                        </a:rPr>
                        <a:t>Tool</a:t>
                      </a: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rgbClr val="FFFFFF"/>
                          </a:solidFill>
                          <a:effectLst/>
                        </a:rPr>
                        <a:t>Captures</a:t>
                      </a: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363165"/>
                  </a:ext>
                </a:extLst>
              </a:tr>
              <a:tr h="82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Platform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Azure Monitor + Log Analytics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CPU · Memory · 4xx/5xx rates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334224"/>
                  </a:ext>
                </a:extLst>
              </a:tr>
              <a:tr h="111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Application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Application Insights (Java agent)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Traces · Exceptions · Dependencies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510763"/>
                  </a:ext>
                </a:extLst>
              </a:tr>
              <a:tr h="82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Pipeline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deploy-logs-&lt;env&gt;.zip artifact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Per-deployment audit archive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013636"/>
                  </a:ext>
                </a:extLst>
              </a:tr>
              <a:tr h="111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Container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 err="1">
                          <a:solidFill>
                            <a:srgbClr val="000000"/>
                          </a:solidFill>
                          <a:effectLst/>
                        </a:rPr>
                        <a:t>az</a:t>
                      </a:r>
                      <a:r>
                        <a:rPr lang="en-US" sz="1200" cap="none" spc="0" dirty="0">
                          <a:solidFill>
                            <a:srgbClr val="000000"/>
                          </a:solidFill>
                          <a:effectLst/>
                        </a:rPr>
                        <a:t> webapp log tail</a:t>
                      </a: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rgbClr val="000000"/>
                          </a:solidFill>
                          <a:effectLst/>
                        </a:rPr>
                        <a:t>Spring Boot startup · Runtime errors</a:t>
                      </a:r>
                      <a:endParaRPr lang="en-US" sz="1200" cap="none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15713" marR="115713" marT="142207" marB="5785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978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86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1" name="Freeform: Shape 8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3" name="Freeform: Shape 8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CC018-EC33-0923-22DB-6AF66E76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68" y="386037"/>
            <a:ext cx="4186891" cy="2060645"/>
          </a:xfr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Bookman Old Style"/>
                <a:ea typeface="+mn-ea"/>
                <a:cs typeface="+mn-cs"/>
              </a:rPr>
              <a:t>Health Validation &amp; Rollback</a:t>
            </a:r>
            <a:endParaRPr lang="en-US" sz="3600" b="1">
              <a:solidFill>
                <a:schemeClr val="bg1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2D64-7131-0135-0383-410889F19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4468" y="2718054"/>
            <a:ext cx="3889479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Triggered automatically if </a:t>
            </a:r>
            <a:r>
              <a:rPr lang="en-US" sz="1200" dirty="0" err="1">
                <a:solidFill>
                  <a:schemeClr val="dk1"/>
                </a:solidFill>
              </a:rPr>
              <a:t>DeployProd</a:t>
            </a:r>
            <a:r>
              <a:rPr lang="en-US" sz="1200" dirty="0">
                <a:solidFill>
                  <a:schemeClr val="dk1"/>
                </a:solidFill>
              </a:rPr>
              <a:t> or </a:t>
            </a:r>
            <a:r>
              <a:rPr lang="en-US" sz="1200" dirty="0" err="1">
                <a:solidFill>
                  <a:schemeClr val="dk1"/>
                </a:solidFill>
              </a:rPr>
              <a:t>PostDeploy</a:t>
            </a:r>
            <a:r>
              <a:rPr lang="en-US" sz="1200" dirty="0">
                <a:solidFill>
                  <a:schemeClr val="dk1"/>
                </a:solidFill>
              </a:rPr>
              <a:t> Validation fails.</a:t>
            </a:r>
            <a:endParaRPr lang="en-US" sz="1200" dirty="0">
              <a:solidFill>
                <a:schemeClr val="dk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ea typeface="Calibri"/>
              <a:cs typeface="Calibri"/>
            </a:endParaRPr>
          </a:p>
          <a:p>
            <a:pPr marL="11430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❌ Failure detected  →  Redeploy :stable  →  Restart App Service  →  Health check (30s)  →  ✅ Confirmed</a:t>
            </a:r>
            <a:endParaRPr lang="en-US" sz="1200">
              <a:solidFill>
                <a:schemeClr val="dk1"/>
              </a:solidFill>
              <a:ea typeface="Calibri"/>
              <a:cs typeface="Calibri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9E0A8F1-1E10-803E-40B7-3312B41D95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98437227"/>
              </p:ext>
            </p:extLst>
          </p:nvPr>
        </p:nvGraphicFramePr>
        <p:xfrm>
          <a:off x="4901184" y="1403219"/>
          <a:ext cx="6922009" cy="415214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984031">
                  <a:extLst>
                    <a:ext uri="{9D8B030D-6E8A-4147-A177-3AD203B41FA5}">
                      <a16:colId xmlns:a16="http://schemas.microsoft.com/office/drawing/2014/main" val="3315659524"/>
                    </a:ext>
                  </a:extLst>
                </a:gridCol>
                <a:gridCol w="2027885">
                  <a:extLst>
                    <a:ext uri="{9D8B030D-6E8A-4147-A177-3AD203B41FA5}">
                      <a16:colId xmlns:a16="http://schemas.microsoft.com/office/drawing/2014/main" val="415612604"/>
                    </a:ext>
                  </a:extLst>
                </a:gridCol>
                <a:gridCol w="2910093">
                  <a:extLst>
                    <a:ext uri="{9D8B030D-6E8A-4147-A177-3AD203B41FA5}">
                      <a16:colId xmlns:a16="http://schemas.microsoft.com/office/drawing/2014/main" val="2460438738"/>
                    </a:ext>
                  </a:extLst>
                </a:gridCol>
              </a:tblGrid>
              <a:tr h="61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Column1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Column2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effectLst/>
                        </a:rPr>
                        <a:t>Column3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936681"/>
                  </a:ext>
                </a:extLst>
              </a:tr>
              <a:tr h="61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Stage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Validation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Pass Criteria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817306"/>
                  </a:ext>
                </a:extLst>
              </a:tr>
              <a:tr h="1459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Dev — Smoke Test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5 retries × 20s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/actuator/health → HTTP 200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355343"/>
                  </a:ext>
                </a:extLst>
              </a:tr>
              <a:tr h="1459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Prod — Post-Deploy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 checks in sequence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Health UP · RT &lt; 5s · /owners → 200</a:t>
                      </a:r>
                    </a:p>
                  </a:txBody>
                  <a:tcPr marL="136634" marR="136634" marT="68318" marB="6831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018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156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F93FD-5AB2-EB5A-0503-DCC7EFAE7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Bookman Old Style"/>
                <a:ea typeface="Calibri"/>
                <a:cs typeface="Calibri"/>
              </a:rPr>
              <a:t>Migration Factory &amp; Top Risks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BAC0E-CCFD-6D6C-D963-38FDF3A8B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200">
                <a:ea typeface="+mn-lt"/>
                <a:cs typeface="+mn-lt"/>
              </a:rPr>
              <a:t>Wave 1 Onboarding (per app)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Step 1 — Run pipeline_inventory_analyzer.py → get risk score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Step 2 — Copy azure-</a:t>
            </a:r>
            <a:r>
              <a:rPr lang="en-US" sz="1200" dirty="0" err="1">
                <a:ea typeface="+mn-lt"/>
                <a:cs typeface="+mn-lt"/>
              </a:rPr>
              <a:t>pipelines.yml</a:t>
            </a:r>
            <a:r>
              <a:rPr lang="en-US" sz="1200" dirty="0">
                <a:ea typeface="+mn-lt"/>
                <a:cs typeface="+mn-lt"/>
              </a:rPr>
              <a:t>, update </a:t>
            </a:r>
            <a:r>
              <a:rPr lang="en-US" sz="1200" dirty="0" err="1">
                <a:ea typeface="+mn-lt"/>
                <a:cs typeface="+mn-lt"/>
              </a:rPr>
              <a:t>imageRepository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appName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dockerfilePath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Step 3 — Add app secrets to Key Vault variable group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Step 4 — Create ADO Environments — dev (auto) + prod (with approver)</a:t>
            </a:r>
            <a:endParaRPr lang="en-US" sz="12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>
                <a:ea typeface="+mn-lt"/>
                <a:cs typeface="+mn-lt"/>
              </a:rPr>
              <a:t>Top Risks &amp; Mitigations</a:t>
            </a:r>
            <a:endParaRPr lang="en-US" sz="12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🔴 Plain-text credentials in Jenkins — migrate all secrets to Key Vault-backed variable groups; audit Jenkins credential store before cutover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🟠 Mutable :latest tags — enforce :</a:t>
            </a:r>
            <a:r>
              <a:rPr lang="en-US" sz="1200" dirty="0" err="1">
                <a:ea typeface="+mn-lt"/>
                <a:cs typeface="+mn-lt"/>
              </a:rPr>
              <a:t>BuildId</a:t>
            </a:r>
            <a:r>
              <a:rPr lang="en-US" sz="1200" dirty="0">
                <a:ea typeface="+mn-lt"/>
                <a:cs typeface="+mn-lt"/>
              </a:rPr>
              <a:t> + :git-sha; block :latest tag in deployment pipeline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🟠 Self-hosted agent compromise — run as non-root </a:t>
            </a:r>
            <a:r>
              <a:rPr lang="en-US" sz="1200" dirty="0" err="1">
                <a:ea typeface="+mn-lt"/>
                <a:cs typeface="+mn-lt"/>
              </a:rPr>
              <a:t>azpuser</a:t>
            </a:r>
            <a:r>
              <a:rPr lang="en-US" sz="1200" dirty="0">
                <a:ea typeface="+mn-lt"/>
                <a:cs typeface="+mn-lt"/>
              </a:rPr>
              <a:t>; rotate PAT regularly; use immutable agent container image; route egress through Firewall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8147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EA480E-6855-DB22-E7B7-20FC63A6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05" y="770141"/>
            <a:ext cx="9942716" cy="1554480"/>
          </a:xfrm>
          <a:solidFill>
            <a:schemeClr val="accent2"/>
          </a:solidFill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Bookman Old Style"/>
                <a:ea typeface="Calibri"/>
                <a:cs typeface="Calibri"/>
              </a:rPr>
              <a:t>Appendix- Jira Cloud Migration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C8C0B-4BD1-639E-CB9C-48F01476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✅ Tempo Timesheets — cloud-compatible, no action needed</a:t>
            </a: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⚠️ Script Runner — review required, validate feature parity in Jira Cloud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❌ Custom Legacy Plugin — not supported, replace with Forge app or redesign</a:t>
            </a: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ea typeface="+mn-lt"/>
                <a:cs typeface="+mn-lt"/>
              </a:rPr>
              <a:t>Assessment → test migration → UAT → production cutover → </a:t>
            </a:r>
            <a:r>
              <a:rPr lang="en-US" sz="1200" dirty="0" err="1">
                <a:ea typeface="+mn-lt"/>
                <a:cs typeface="+mn-lt"/>
              </a:rPr>
              <a:t>hypercare</a:t>
            </a:r>
            <a:endParaRPr lang="en-US" sz="1200" dirty="0" err="1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Waves with change freeze and 72h rollback window</a:t>
            </a:r>
            <a:endParaRPr lang="en-US" sz="12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1200">
                <a:ea typeface="+mn-lt"/>
                <a:cs typeface="+mn-lt"/>
              </a:rPr>
              <a:t>Pre-migration: deactivate inactive users, resolve script runner gaps, document custom workflows</a:t>
            </a:r>
            <a:br>
              <a:rPr lang="en-US" sz="1200" dirty="0"/>
            </a:br>
            <a:endParaRPr lang="en-US" sz="15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500">
              <a:ea typeface="Calibri"/>
              <a:cs typeface="Calibri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7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Enterprise DevOps Migration</vt:lpstr>
      <vt:lpstr>Agenda</vt:lpstr>
      <vt:lpstr>PowerPoint Presentation</vt:lpstr>
      <vt:lpstr>Application Inventory </vt:lpstr>
      <vt:lpstr>Legacy Pipeline Discovery</vt:lpstr>
      <vt:lpstr>Migration Mapping</vt:lpstr>
      <vt:lpstr>  Local Simulation - Docker </vt:lpstr>
      <vt:lpstr>Local Simulation-containerization &amp; evidences</vt:lpstr>
      <vt:lpstr>Azure IaC - Terraform </vt:lpstr>
      <vt:lpstr>Target Architecture</vt:lpstr>
      <vt:lpstr>Agent Network &amp; Operational Requirements</vt:lpstr>
      <vt:lpstr> Agent Model — When to Use Which</vt:lpstr>
      <vt:lpstr>Self-hosted Agent Evidence</vt:lpstr>
      <vt:lpstr>ADO Pipeline &amp; Reusable Templates</vt:lpstr>
      <vt:lpstr>Target Pipeline- Architecture</vt:lpstr>
      <vt:lpstr>GitHub Actions -Alternative</vt:lpstr>
      <vt:lpstr>Secrets &amp; OIDC — Zero Stored Credentials </vt:lpstr>
      <vt:lpstr>Immutable Image Promotion Chain </vt:lpstr>
      <vt:lpstr>Release Governance &amp; Approvals</vt:lpstr>
      <vt:lpstr>Observability</vt:lpstr>
      <vt:lpstr>Health Validation &amp; Rollback</vt:lpstr>
      <vt:lpstr>Migration Factory &amp; Top Risks</vt:lpstr>
      <vt:lpstr>Appendix- Jira Cloud Migration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410</cp:revision>
  <dcterms:created xsi:type="dcterms:W3CDTF">2013-01-27T09:14:16Z</dcterms:created>
  <dcterms:modified xsi:type="dcterms:W3CDTF">2026-05-24T08:34:18Z</dcterms:modified>
  <cp:category/>
</cp:coreProperties>
</file>